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1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567D6F7-0969-E9F4-1D0F-F6603014265F}">
          <p14:sldIdLst>
            <p14:sldId id="280"/>
            <p14:sldId id="256"/>
            <p14:sldId id="257"/>
            <p14:sldId id="258"/>
          </p14:sldIdLst>
        </p14:section>
        <p14:section name="Intro" id="{B699792A-049E-E85E-D74C-36153624117F}">
          <p14:sldIdLst/>
        </p14:section>
        <p14:section name="Architecture" id="{1BEEAFA7-7CC0-93A2-FED8-FA6FEECF21DA}">
          <p14:sldIdLst>
            <p14:sldId id="259"/>
            <p14:sldId id="260"/>
            <p14:sldId id="261"/>
          </p14:sldIdLst>
        </p14:section>
        <p14:section name="Datapath design" id="{FEC0CECA-943B-5C68-A1F6-45AEDA25E21A}">
          <p14:sldIdLst>
            <p14:sldId id="262"/>
            <p14:sldId id="263"/>
          </p14:sldIdLst>
        </p14:section>
        <p14:section name="Pipeline" id="{C5F94FAF-FBA7-A5EB-027C-637F9C1E7A29}">
          <p14:sldIdLst>
            <p14:sldId id="264"/>
            <p14:sldId id="265"/>
            <p14:sldId id="266"/>
          </p14:sldIdLst>
        </p14:section>
        <p14:section name="Verification" id="{804202FA-4BDA-01CE-D05E-C7F58815D8E6}">
          <p14:sldIdLst>
            <p14:sldId id="267"/>
            <p14:sldId id="281"/>
            <p14:sldId id="268"/>
          </p14:sldIdLst>
        </p14:section>
        <p14:section name="Simulation results" id="{A49F1BC3-3D06-0B30-D277-55B9C1F02279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Implementation" id="{6C34BE83-F85F-8A20-F7E6-5FC0D2D71742}">
          <p14:sldIdLst>
            <p14:sldId id="275"/>
            <p14:sldId id="276"/>
            <p14:sldId id="277"/>
          </p14:sldIdLst>
        </p14:section>
        <p14:section name="Wrap-up" id="{B407A9FA-5F4F-DD7B-3E28-B072A5CD8A8D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232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5232B"/>
                </a:solidFill>
                <a:latin typeface="+mn-lt"/>
              </a:rPr>
              <a:t>Clock cycles to finish N instructions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Pipelined (N+2)</c:v>
                </c:pt>
              </c:strCache>
            </c:strRef>
          </c:tx>
          <c:spPr>
            <a:solidFill>
              <a:srgbClr val="1B9C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5232B"/>
                    </a:solidFill>
                    <a:latin typeface="+mn-lt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5 instr</c:v>
                </c:pt>
                <c:pt idx="1">
                  <c:v>9 instr</c:v>
                </c:pt>
                <c:pt idx="2">
                  <c:v>12 instr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11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19-4470-B69D-17C9C5E66F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2-cycle design (2N)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5232B"/>
                    </a:solidFill>
                    <a:latin typeface="+mn-lt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5 instr</c:v>
                </c:pt>
                <c:pt idx="1">
                  <c:v>9 instr</c:v>
                </c:pt>
                <c:pt idx="2">
                  <c:v>12 instr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19-4470-B69D-17C9C5E66F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32B"/>
                </a:solidFill>
                <a:latin typeface="+mn-lt"/>
              </a:defRPr>
            </a:pPr>
            <a:endParaRPr lang="vi-V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3DC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5232B"/>
                    </a:solidFill>
                    <a:latin typeface="Arial"/>
                  </a:defRPr>
                </a:pPr>
                <a:r>
                  <a:rPr lang="vi-VN" sz="1200" b="0" i="0" u="none" strike="noStrike">
                    <a:solidFill>
                      <a:srgbClr val="15232B"/>
                    </a:solidFill>
                    <a:latin typeface="Arial"/>
                  </a:rPr>
                  <a:t>clocks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32B"/>
                </a:solidFill>
                <a:latin typeface="+mn-lt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5232B"/>
              </a:solidFill>
              <a:latin typeface="+mn-lt"/>
              <a:cs typeface="+mn-lt"/>
            </a:defRPr>
          </a:pPr>
          <a:endParaRPr lang="vi-VN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232B"/>
                </a:solidFill>
                <a:latin typeface="+mn-lt"/>
              </a:defRPr>
            </a:pPr>
            <a:r>
              <a:rPr lang="vi-VN" sz="1400" b="0" i="0" u="none" strike="noStrike">
                <a:solidFill>
                  <a:srgbClr val="15232B"/>
                </a:solidFill>
                <a:latin typeface="+mn-lt"/>
              </a:rPr>
              <a:t>Checks per testbench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spPr>
            <a:solidFill>
              <a:srgbClr val="1B9C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5232B"/>
                    </a:solidFill>
                    <a:latin typeface="+mn-lt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tb_alu</c:v>
                </c:pt>
                <c:pt idx="1">
                  <c:v>tb_register_file</c:v>
                </c:pt>
                <c:pt idx="2">
                  <c:v>tb_control_unit</c:v>
                </c:pt>
                <c:pt idx="3">
                  <c:v>tb_cpu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11</c:v>
                </c:pt>
                <c:pt idx="2">
                  <c:v>22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9D-4766-AF77-018A02CEC5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32B"/>
                </a:solidFill>
                <a:latin typeface="+mn-lt"/>
              </a:defRPr>
            </a:pPr>
            <a:endParaRPr lang="vi-V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6350" cap="flat">
              <a:solidFill>
                <a:srgbClr val="D3DC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32B"/>
                </a:solidFill>
                <a:latin typeface="+mn-lt"/>
              </a:defRPr>
            </a:pPr>
            <a:endParaRPr lang="vi-V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800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Summarises the 2-week project: design, verify and synthesise a small 4-bit pipelined RISC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4B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4B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F7170F-3466-4261-8ADE-32F91CCB1687}"/>
              </a:ext>
            </a:extLst>
          </p:cNvPr>
          <p:cNvSpPr txBox="1"/>
          <p:nvPr/>
        </p:nvSpPr>
        <p:spPr>
          <a:xfrm>
            <a:off x="768096" y="877824"/>
            <a:ext cx="76078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Project Topic : ALU 4-bit CPU Datapath</a:t>
            </a:r>
          </a:p>
          <a:p>
            <a:r>
              <a:rPr lang="en-US" sz="3200" dirty="0">
                <a:solidFill>
                  <a:srgbClr val="00B0F0"/>
                </a:solidFill>
              </a:rPr>
              <a:t>Name: LE DINH SON</a:t>
            </a:r>
          </a:p>
          <a:p>
            <a:r>
              <a:rPr lang="en-US" sz="3200" dirty="0">
                <a:solidFill>
                  <a:srgbClr val="00B0F0"/>
                </a:solidFill>
              </a:rPr>
              <a:t>Roll Number: HE204173</a:t>
            </a:r>
          </a:p>
          <a:p>
            <a:r>
              <a:rPr lang="en-US" sz="3200" dirty="0">
                <a:solidFill>
                  <a:srgbClr val="00B0F0"/>
                </a:solidFill>
              </a:rPr>
              <a:t>Instructor: </a:t>
            </a:r>
            <a:r>
              <a:rPr lang="en-US" sz="3200" dirty="0" err="1">
                <a:solidFill>
                  <a:srgbClr val="00B0F0"/>
                </a:solidFill>
              </a:rPr>
              <a:t>Shivashish</a:t>
            </a:r>
            <a:r>
              <a:rPr lang="en-US" sz="3200" dirty="0">
                <a:solidFill>
                  <a:srgbClr val="00B0F0"/>
                </a:solidFill>
              </a:rPr>
              <a:t> Pal</a:t>
            </a:r>
          </a:p>
          <a:p>
            <a:r>
              <a:rPr lang="en-US" sz="3200" dirty="0">
                <a:solidFill>
                  <a:srgbClr val="00B0F0"/>
                </a:solidFill>
              </a:rPr>
              <a:t>Completion date: 7/10/2026</a:t>
            </a:r>
            <a:br>
              <a:rPr lang="en-US" sz="3200" dirty="0">
                <a:solidFill>
                  <a:srgbClr val="00B0F0"/>
                </a:solidFill>
              </a:rPr>
            </a:br>
            <a:endParaRPr lang="vi-VN" sz="3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047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4-Bit RISC CPU Datapath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9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Using Verilog HDL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pipeline  |  12-bit instructions  |  Harvard memory  |  Simulated in Vivado XSim</a:t>
            </a:r>
            <a:endParaRPr lang="en-US" sz="1400" dirty="0"/>
          </a:p>
        </p:txBody>
      </p:sp>
      <p:sp>
        <p:nvSpPr>
          <p:cNvPr id="5" name="stage IF"/>
          <p:cNvSpPr/>
          <p:nvPr/>
        </p:nvSpPr>
        <p:spPr>
          <a:xfrm>
            <a:off x="548640" y="3840480"/>
            <a:ext cx="8229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840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IF</a:t>
            </a:r>
            <a:endParaRPr lang="en-US" sz="1800" dirty="0"/>
          </a:p>
        </p:txBody>
      </p:sp>
      <p:sp>
        <p:nvSpPr>
          <p:cNvPr id="7" name="stage ID"/>
          <p:cNvSpPr/>
          <p:nvPr/>
        </p:nvSpPr>
        <p:spPr>
          <a:xfrm>
            <a:off x="1554480" y="3840480"/>
            <a:ext cx="8229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54480" y="3840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ID</a:t>
            </a:r>
            <a:endParaRPr lang="en-US" sz="1800" dirty="0"/>
          </a:p>
        </p:txBody>
      </p:sp>
      <p:sp>
        <p:nvSpPr>
          <p:cNvPr id="9" name="stage EX"/>
          <p:cNvSpPr/>
          <p:nvPr/>
        </p:nvSpPr>
        <p:spPr>
          <a:xfrm>
            <a:off x="2560320" y="3840480"/>
            <a:ext cx="8229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3840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EX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4B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2800" dirty="0"/>
          </a:p>
        </p:txBody>
      </p:sp>
      <p:sp>
        <p:nvSpPr>
          <p:cNvPr id="3" name="stat 0"/>
          <p:cNvSpPr/>
          <p:nvPr/>
        </p:nvSpPr>
        <p:spPr>
          <a:xfrm>
            <a:off x="457200" y="1188720"/>
            <a:ext cx="1965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 / 88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116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passed across 4 testbenches</a:t>
            </a:r>
            <a:endParaRPr lang="en-US" sz="1300" dirty="0"/>
          </a:p>
        </p:txBody>
      </p:sp>
      <p:sp>
        <p:nvSpPr>
          <p:cNvPr id="6" name="stat 1"/>
          <p:cNvSpPr/>
          <p:nvPr/>
        </p:nvSpPr>
        <p:spPr>
          <a:xfrm>
            <a:off x="2560320" y="1188720"/>
            <a:ext cx="1965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3258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0116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stages: IF, ID, EX</a:t>
            </a:r>
            <a:endParaRPr lang="en-US" sz="1300" dirty="0"/>
          </a:p>
        </p:txBody>
      </p:sp>
      <p:sp>
        <p:nvSpPr>
          <p:cNvPr id="9" name="stat 2"/>
          <p:cNvSpPr/>
          <p:nvPr/>
        </p:nvSpPr>
        <p:spPr>
          <a:xfrm>
            <a:off x="4663440" y="1188720"/>
            <a:ext cx="1965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3258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116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opcodes, 4 reserved</a:t>
            </a:r>
            <a:endParaRPr lang="en-US" sz="1300" dirty="0"/>
          </a:p>
        </p:txBody>
      </p:sp>
      <p:sp>
        <p:nvSpPr>
          <p:cNvPr id="12" name="stat 3"/>
          <p:cNvSpPr/>
          <p:nvPr/>
        </p:nvSpPr>
        <p:spPr>
          <a:xfrm>
            <a:off x="6766560" y="1188720"/>
            <a:ext cx="19659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3258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/ 50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0116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LUTs / flip-flops after synthesis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4-bit datapath: ALU, register file, program counter, instruction ROM, data RAM, flag register and a hardwired control unit.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unit testbenches per module and an end-to-end CPU testbench, then synthesised for an Artix-7 device.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scope</a:t>
            </a:r>
            <a:endParaRPr lang="en-US" sz="2800" dirty="0"/>
          </a:p>
        </p:txBody>
      </p:sp>
      <p:sp>
        <p:nvSpPr>
          <p:cNvPr id="3" name="card Goal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0759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2527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00200"/>
            <a:ext cx="3694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4-bit RISC CPU datapath in Verilog HDL, simulate it, and prove it correct with self-checking testbenches.</a:t>
            </a:r>
            <a:endParaRPr lang="en-US" sz="1400" dirty="0"/>
          </a:p>
        </p:txBody>
      </p:sp>
      <p:sp>
        <p:nvSpPr>
          <p:cNvPr id="7" name="card Constraints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8032" y="130759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47488" y="12527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28032" y="1600200"/>
            <a:ext cx="3694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set as the reference design, but original code. Two-week schedule. Vivado 2026.1 XSim.</a:t>
            </a:r>
            <a:endParaRPr lang="en-US" sz="1400" dirty="0"/>
          </a:p>
        </p:txBody>
      </p:sp>
      <p:sp>
        <p:nvSpPr>
          <p:cNvPr id="11" name="card In scope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99923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29443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29184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with flags, 4 registers, 16x12 instruction ROM, 16x4 data RAM, 12 instructions, jump and branch, 3-stage pipeline with flush.</a:t>
            </a:r>
            <a:endParaRPr lang="en-US" sz="1400" dirty="0"/>
          </a:p>
        </p:txBody>
      </p:sp>
      <p:sp>
        <p:nvSpPr>
          <p:cNvPr id="15" name="card Out of scope"/>
          <p:cNvSpPr/>
          <p:nvPr/>
        </p:nvSpPr>
        <p:spPr>
          <a:xfrm>
            <a:off x="466344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8032" y="2999232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47488" y="29443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28032" y="329184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Interrupts, caches, forwarding and stalls (not needed: registers are read in EX), I/O peripherals, FPGA implementation and timing closure.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Harvard architecture: separate code and data</a:t>
            </a:r>
            <a:endParaRPr lang="en-US" sz="2800" dirty="0"/>
          </a:p>
        </p:txBody>
      </p:sp>
      <p:pic>
        <p:nvPicPr>
          <p:cNvPr id="3" name="Figure 1" descr="Von Neumann versus Harv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4937760" cy="19019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18872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memory and one bus. Fetch and data access compete.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(chosen)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ROM and data RAM are independent, so IF and a memory access can happen in the same cycle.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lets the pipeline fetch the next instruction while EX reads or writes RAM.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12-bit instruction format and instruction set</a:t>
            </a:r>
            <a:endParaRPr lang="en-US" sz="2800" dirty="0"/>
          </a:p>
        </p:txBody>
      </p:sp>
      <p:sp>
        <p:nvSpPr>
          <p:cNvPr id="3" name="field opcode"/>
          <p:cNvSpPr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opcode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[11:8]</a:t>
            </a:r>
            <a:endParaRPr lang="en-US" sz="1400" dirty="0"/>
          </a:p>
        </p:txBody>
      </p:sp>
      <p:sp>
        <p:nvSpPr>
          <p:cNvPr id="5" name="field Rd"/>
          <p:cNvSpPr/>
          <p:nvPr/>
        </p:nvSpPr>
        <p:spPr>
          <a:xfrm>
            <a:off x="2286000" y="1097280"/>
            <a:ext cx="1280160" cy="54864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[7:6]</a:t>
            </a:r>
            <a:endParaRPr lang="en-US" sz="1400" dirty="0"/>
          </a:p>
        </p:txBody>
      </p:sp>
      <p:sp>
        <p:nvSpPr>
          <p:cNvPr id="7" name="field Rs"/>
          <p:cNvSpPr/>
          <p:nvPr/>
        </p:nvSpPr>
        <p:spPr>
          <a:xfrm>
            <a:off x="3566160" y="1097280"/>
            <a:ext cx="1280160" cy="54864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[5:4]</a:t>
            </a:r>
            <a:endParaRPr lang="en-US" sz="1400" dirty="0"/>
          </a:p>
        </p:txBody>
      </p:sp>
      <p:sp>
        <p:nvSpPr>
          <p:cNvPr id="9" name="field imm / addr"/>
          <p:cNvSpPr/>
          <p:nvPr/>
        </p:nvSpPr>
        <p:spPr>
          <a:xfrm>
            <a:off x="4846320" y="1097280"/>
            <a:ext cx="1828800" cy="54864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imm / addr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[3:0]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4023360" cy="179222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Mnemonic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Rd + 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Rd - 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Rd &amp; 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Rd | 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Rd ^ 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~Rs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874520"/>
          <a:ext cx="4023360" cy="179222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Mnemonic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imm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RAM[imm]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RAM[imm] = 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= imm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Z: PC = imm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Opcodes 1100 to 1111 are reserved and decode as NOP (0xC00 is used to pad empty ROM words).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Datapath building blocks</a:t>
            </a:r>
            <a:endParaRPr lang="en-US" sz="2800" dirty="0"/>
          </a:p>
        </p:txBody>
      </p:sp>
      <p:sp>
        <p:nvSpPr>
          <p:cNvPr id="3" name="card ALU"/>
          <p:cNvSpPr/>
          <p:nvPr/>
        </p:nvSpPr>
        <p:spPr>
          <a:xfrm>
            <a:off x="457200" y="1097280"/>
            <a:ext cx="26517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6187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2070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55448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Adder/subtractor, logic unit, zero detector.</a:t>
            </a:r>
            <a:endParaRPr lang="en-US" sz="1400" dirty="0"/>
          </a:p>
        </p:txBody>
      </p:sp>
      <p:sp>
        <p:nvSpPr>
          <p:cNvPr id="7" name="card Register file"/>
          <p:cNvSpPr/>
          <p:nvPr/>
        </p:nvSpPr>
        <p:spPr>
          <a:xfrm>
            <a:off x="3264408" y="1097280"/>
            <a:ext cx="26517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26187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48456" y="12070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55448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x 4-bit registers, two read ports, one write port.</a:t>
            </a:r>
            <a:endParaRPr lang="en-US" sz="1400" dirty="0"/>
          </a:p>
        </p:txBody>
      </p:sp>
      <p:sp>
        <p:nvSpPr>
          <p:cNvPr id="11" name="card Program counter"/>
          <p:cNvSpPr/>
          <p:nvPr/>
        </p:nvSpPr>
        <p:spPr>
          <a:xfrm>
            <a:off x="6071616" y="1097280"/>
            <a:ext cx="26517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26187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55664" y="12070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155448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4-bit, loads jump target when pc_sel is high.</a:t>
            </a:r>
            <a:endParaRPr lang="en-US" sz="1400" dirty="0"/>
          </a:p>
        </p:txBody>
      </p:sp>
      <p:sp>
        <p:nvSpPr>
          <p:cNvPr id="15" name="card Instruction memory"/>
          <p:cNvSpPr/>
          <p:nvPr/>
        </p:nvSpPr>
        <p:spPr>
          <a:xfrm>
            <a:off x="457200" y="2286000"/>
            <a:ext cx="26517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245059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23957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memory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274320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x 12-bit ROM, loaded with $readmemh.</a:t>
            </a:r>
            <a:endParaRPr lang="en-US" sz="1400" dirty="0"/>
          </a:p>
        </p:txBody>
      </p:sp>
      <p:sp>
        <p:nvSpPr>
          <p:cNvPr id="19" name="card Data memory"/>
          <p:cNvSpPr/>
          <p:nvPr/>
        </p:nvSpPr>
        <p:spPr>
          <a:xfrm>
            <a:off x="3264408" y="2286000"/>
            <a:ext cx="26517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245059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48456" y="23957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memory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274320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x 4-bit synchronous RAM.</a:t>
            </a:r>
            <a:endParaRPr lang="en-US" sz="1400" dirty="0"/>
          </a:p>
        </p:txBody>
      </p:sp>
      <p:sp>
        <p:nvSpPr>
          <p:cNvPr id="23" name="card Flag register"/>
          <p:cNvSpPr/>
          <p:nvPr/>
        </p:nvSpPr>
        <p:spPr>
          <a:xfrm>
            <a:off x="6071616" y="2286000"/>
            <a:ext cx="26517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6208" y="245059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55664" y="23957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register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36208" y="274320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and carry with separate write enables.</a:t>
            </a:r>
            <a:endParaRPr lang="en-US" sz="1400" dirty="0"/>
          </a:p>
        </p:txBody>
      </p:sp>
      <p:sp>
        <p:nvSpPr>
          <p:cNvPr id="27" name="card Control unit"/>
          <p:cNvSpPr/>
          <p:nvPr/>
        </p:nvSpPr>
        <p:spPr>
          <a:xfrm>
            <a:off x="457200" y="3474720"/>
            <a:ext cx="26517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363931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" y="35844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" y="393192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and branch unit emit an 11-bit control word.</a:t>
            </a:r>
            <a:endParaRPr lang="en-US" sz="1400" dirty="0"/>
          </a:p>
        </p:txBody>
      </p:sp>
      <p:sp>
        <p:nvSpPr>
          <p:cNvPr id="31" name="card Pipeline registers"/>
          <p:cNvSpPr/>
          <p:nvPr/>
        </p:nvSpPr>
        <p:spPr>
          <a:xfrm>
            <a:off x="3264408" y="3474720"/>
            <a:ext cx="26517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9000" y="363931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48456" y="35844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registers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429000" y="393192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(IF/ID) and pipeline_register (ID/EX).</a:t>
            </a:r>
            <a:endParaRPr lang="en-US" sz="1400" dirty="0"/>
          </a:p>
        </p:txBody>
      </p:sp>
      <p:sp>
        <p:nvSpPr>
          <p:cNvPr id="35" name="card cpu_top"/>
          <p:cNvSpPr/>
          <p:nvPr/>
        </p:nvSpPr>
        <p:spPr>
          <a:xfrm>
            <a:off x="6071616" y="3474720"/>
            <a:ext cx="26517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6208" y="363931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55664" y="35844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cpu_top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236208" y="393192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every module together with muxes.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ALU: seven operations, two flags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2651760" cy="204825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alu_ctrl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(B)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card Subtraction reuses the adder"/>
          <p:cNvSpPr/>
          <p:nvPr/>
        </p:nvSpPr>
        <p:spPr>
          <a:xfrm>
            <a:off x="3383280" y="1143000"/>
            <a:ext cx="5303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547872" y="130759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767328" y="12527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 reuses the adder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547872" y="1600200"/>
            <a:ext cx="4974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computes A + ~B + 1. B is XORed with do_sub and do_sub is also the carry-in, so one adder serves both.</a:t>
            </a:r>
            <a:endParaRPr lang="en-US" sz="1400" dirty="0"/>
          </a:p>
        </p:txBody>
      </p:sp>
      <p:sp>
        <p:nvSpPr>
          <p:cNvPr id="3" name="code"/>
          <p:cNvSpPr/>
          <p:nvPr/>
        </p:nvSpPr>
        <p:spPr>
          <a:xfrm>
            <a:off x="3383280" y="2697480"/>
            <a:ext cx="5303520" cy="566928"/>
          </a:xfrm>
          <a:prstGeom prst="roundRect">
            <a:avLst>
              <a:gd name="adj" fmla="val 96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20440" y="26974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b_eff = b ^ {4{do_sub}};  total = a + b_eff + do_sub;</a:t>
            </a:r>
            <a:endParaRPr lang="en-US" sz="1300" dirty="0"/>
          </a:p>
        </p:txBody>
      </p:sp>
      <p:sp>
        <p:nvSpPr>
          <p:cNvPr id="10" name="card Zero flag"/>
          <p:cNvSpPr/>
          <p:nvPr/>
        </p:nvSpPr>
        <p:spPr>
          <a:xfrm>
            <a:off x="3383280" y="3429000"/>
            <a:ext cx="25603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47872" y="359359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67328" y="35387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flag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47872" y="388620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when the 4-bit result is 0000.</a:t>
            </a:r>
            <a:endParaRPr lang="en-US" sz="1400" dirty="0"/>
          </a:p>
        </p:txBody>
      </p:sp>
      <p:sp>
        <p:nvSpPr>
          <p:cNvPr id="14" name="card Carry flag"/>
          <p:cNvSpPr/>
          <p:nvPr/>
        </p:nvSpPr>
        <p:spPr>
          <a:xfrm>
            <a:off x="6126480" y="3429000"/>
            <a:ext cx="25603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359359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10528" y="35387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flag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91072" y="388620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carry-out. SUB: 1 means no borrow (ARM style).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unit: an 11-bit control word</a:t>
            </a:r>
            <a:endParaRPr lang="en-US" sz="2800" dirty="0"/>
          </a:p>
        </p:txBody>
      </p:sp>
      <p:sp>
        <p:nvSpPr>
          <p:cNvPr id="3" name="bit alu_ctrl"/>
          <p:cNvSpPr/>
          <p:nvPr/>
        </p:nvSpPr>
        <p:spPr>
          <a:xfrm>
            <a:off x="457200" y="1143000"/>
            <a:ext cx="1188720" cy="685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alu_ctrl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3 bits</a:t>
            </a:r>
            <a:endParaRPr lang="en-US" sz="1000" dirty="0"/>
          </a:p>
        </p:txBody>
      </p:sp>
      <p:sp>
        <p:nvSpPr>
          <p:cNvPr id="5" name="bit alu_src_sel"/>
          <p:cNvSpPr/>
          <p:nvPr/>
        </p:nvSpPr>
        <p:spPr>
          <a:xfrm>
            <a:off x="1645920" y="1143000"/>
            <a:ext cx="822960" cy="68580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430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alu_src_sel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 bit</a:t>
            </a:r>
            <a:endParaRPr lang="en-US" sz="1000" dirty="0"/>
          </a:p>
        </p:txBody>
      </p:sp>
      <p:sp>
        <p:nvSpPr>
          <p:cNvPr id="7" name="bit wb_sel"/>
          <p:cNvSpPr/>
          <p:nvPr/>
        </p:nvSpPr>
        <p:spPr>
          <a:xfrm>
            <a:off x="2468880" y="1143000"/>
            <a:ext cx="822960" cy="685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0" y="11430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wb_sel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 bit</a:t>
            </a:r>
            <a:endParaRPr lang="en-US" sz="1000" dirty="0"/>
          </a:p>
        </p:txBody>
      </p:sp>
      <p:sp>
        <p:nvSpPr>
          <p:cNvPr id="9" name="bit reg_we"/>
          <p:cNvSpPr/>
          <p:nvPr/>
        </p:nvSpPr>
        <p:spPr>
          <a:xfrm>
            <a:off x="3291840" y="1143000"/>
            <a:ext cx="822960" cy="68580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1430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reg_we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 bit</a:t>
            </a:r>
            <a:endParaRPr lang="en-US" sz="1000" dirty="0"/>
          </a:p>
        </p:txBody>
      </p:sp>
      <p:sp>
        <p:nvSpPr>
          <p:cNvPr id="11" name="bit mem_we"/>
          <p:cNvSpPr/>
          <p:nvPr/>
        </p:nvSpPr>
        <p:spPr>
          <a:xfrm>
            <a:off x="4114800" y="1143000"/>
            <a:ext cx="822960" cy="685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11430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mem_we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 bit</a:t>
            </a:r>
            <a:endParaRPr lang="en-US" sz="1000" dirty="0"/>
          </a:p>
        </p:txBody>
      </p:sp>
      <p:sp>
        <p:nvSpPr>
          <p:cNvPr id="13" name="bit zero_we"/>
          <p:cNvSpPr/>
          <p:nvPr/>
        </p:nvSpPr>
        <p:spPr>
          <a:xfrm>
            <a:off x="4937760" y="1143000"/>
            <a:ext cx="822960" cy="68580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11430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zero_we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 bit</a:t>
            </a:r>
            <a:endParaRPr lang="en-US" sz="1000" dirty="0"/>
          </a:p>
        </p:txBody>
      </p:sp>
      <p:sp>
        <p:nvSpPr>
          <p:cNvPr id="15" name="bit carry_we"/>
          <p:cNvSpPr/>
          <p:nvPr/>
        </p:nvSpPr>
        <p:spPr>
          <a:xfrm>
            <a:off x="5760720" y="1143000"/>
            <a:ext cx="822960" cy="685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11430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carry_we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 bit</a:t>
            </a:r>
            <a:endParaRPr lang="en-US" sz="1000" dirty="0"/>
          </a:p>
        </p:txBody>
      </p:sp>
      <p:sp>
        <p:nvSpPr>
          <p:cNvPr id="17" name="bit is_jmp"/>
          <p:cNvSpPr/>
          <p:nvPr/>
        </p:nvSpPr>
        <p:spPr>
          <a:xfrm>
            <a:off x="6583680" y="1143000"/>
            <a:ext cx="822960" cy="68580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11430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is_jmp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 bit</a:t>
            </a:r>
            <a:endParaRPr lang="en-US" sz="1000" dirty="0"/>
          </a:p>
        </p:txBody>
      </p:sp>
      <p:sp>
        <p:nvSpPr>
          <p:cNvPr id="19" name="bit is_jz"/>
          <p:cNvSpPr/>
          <p:nvPr/>
        </p:nvSpPr>
        <p:spPr>
          <a:xfrm>
            <a:off x="7406640" y="1143000"/>
            <a:ext cx="822960" cy="685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11430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is_jz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1 bit</a:t>
            </a:r>
            <a:endParaRPr lang="en-US" sz="1000" dirty="0"/>
          </a:p>
        </p:txBody>
      </p:sp>
      <p:sp>
        <p:nvSpPr>
          <p:cNvPr id="21" name="card Hardwired"/>
          <p:cNvSpPr/>
          <p:nvPr/>
        </p:nvSpPr>
        <p:spPr>
          <a:xfrm>
            <a:off x="457200" y="2103120"/>
            <a:ext cx="26517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226771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22128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Hardwired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2560320"/>
            <a:ext cx="23225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microcode. The decoder maps the opcode straight to the word, so control is combinational and fast.</a:t>
            </a:r>
            <a:endParaRPr lang="en-US" sz="1400" dirty="0"/>
          </a:p>
        </p:txBody>
      </p:sp>
      <p:sp>
        <p:nvSpPr>
          <p:cNvPr id="25" name="card Branch decision"/>
          <p:cNvSpPr/>
          <p:nvPr/>
        </p:nvSpPr>
        <p:spPr>
          <a:xfrm>
            <a:off x="3246120" y="2103120"/>
            <a:ext cx="26517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10712" y="226771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30168" y="22128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decision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10712" y="2560320"/>
            <a:ext cx="23225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pc_sel = is_jmp | (is_jz &amp; zero_flag)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= pc_sel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in EX, using the live flag.</a:t>
            </a:r>
            <a:endParaRPr lang="en-US" sz="1400" dirty="0"/>
          </a:p>
        </p:txBody>
      </p:sp>
      <p:sp>
        <p:nvSpPr>
          <p:cNvPr id="29" name="card Flag control"/>
          <p:cNvSpPr/>
          <p:nvPr/>
        </p:nvSpPr>
        <p:spPr>
          <a:xfrm>
            <a:off x="6035040" y="2103120"/>
            <a:ext cx="26517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226771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9088" y="22128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control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99632" y="2560320"/>
            <a:ext cx="23225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arithmetic and logic ops update zero and carry. LDI, MOV, LOAD, STORE and jumps leave flags alone.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Three-stage pipeline: IF, ID, EX</a:t>
            </a:r>
            <a:endParaRPr lang="en-US" sz="2800" dirty="0"/>
          </a:p>
        </p:txBody>
      </p:sp>
      <p:sp>
        <p:nvSpPr>
          <p:cNvPr id="3" name="stage IF"/>
          <p:cNvSpPr/>
          <p:nvPr/>
        </p:nvSpPr>
        <p:spPr>
          <a:xfrm>
            <a:off x="457200" y="118872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</a:t>
            </a:r>
            <a:endParaRPr lang="en-US" sz="30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Fetch</a:t>
            </a:r>
            <a:endParaRPr lang="en-US" sz="30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PC addresses ROM. Instruction Register captures the word.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▶</a:t>
            </a:r>
            <a:endParaRPr lang="en-US" sz="1600" dirty="0"/>
          </a:p>
        </p:txBody>
      </p:sp>
      <p:sp>
        <p:nvSpPr>
          <p:cNvPr id="6" name="stage ID"/>
          <p:cNvSpPr/>
          <p:nvPr/>
        </p:nvSpPr>
        <p:spPr>
          <a:xfrm>
            <a:off x="3291840" y="118872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280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endParaRPr lang="en-US" sz="30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Decode</a:t>
            </a:r>
            <a:endParaRPr lang="en-US" sz="30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Control unit decodes the opcode into the 11-bit word. ID/EX register latches it.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▶</a:t>
            </a:r>
            <a:endParaRPr lang="en-US" sz="1600" dirty="0"/>
          </a:p>
        </p:txBody>
      </p:sp>
      <p:sp>
        <p:nvSpPr>
          <p:cNvPr id="9" name="stage EX"/>
          <p:cNvSpPr/>
          <p:nvPr/>
        </p:nvSpPr>
        <p:spPr>
          <a:xfrm>
            <a:off x="6126480" y="118872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280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</a:t>
            </a:r>
            <a:endParaRPr lang="en-US" sz="30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Execute</a:t>
            </a:r>
            <a:endParaRPr lang="en-US" sz="30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Register read, ALU, RAM access, write-back, flags and branch decision.</a:t>
            </a:r>
            <a:endParaRPr lang="en-US" sz="3000" dirty="0"/>
          </a:p>
        </p:txBody>
      </p:sp>
      <p:sp>
        <p:nvSpPr>
          <p:cNvPr id="11" name="card No data hazards"/>
          <p:cNvSpPr/>
          <p:nvPr/>
        </p:nvSpPr>
        <p:spPr>
          <a:xfrm>
            <a:off x="457200" y="361188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77647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7216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hazards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4069080"/>
            <a:ext cx="3694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are read and written inside EX, so a result is ready before the next instruction reads it.</a:t>
            </a:r>
            <a:endParaRPr lang="en-US" sz="1400" dirty="0"/>
          </a:p>
        </p:txBody>
      </p:sp>
      <p:sp>
        <p:nvSpPr>
          <p:cNvPr id="15" name="card Control hazard only"/>
          <p:cNvSpPr/>
          <p:nvPr/>
        </p:nvSpPr>
        <p:spPr>
          <a:xfrm>
            <a:off x="4663440" y="361188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8032" y="3776472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47488" y="37216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hazard only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28032" y="4069080"/>
            <a:ext cx="3694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taken jump is known in EX, so the two younger instructions must be flushed.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 cycle flow and jump flush</a:t>
            </a:r>
            <a:endParaRPr lang="en-US" sz="2800" dirty="0"/>
          </a:p>
        </p:txBody>
      </p:sp>
      <p:pic>
        <p:nvPicPr>
          <p:cNvPr id="3" name="Figure 3" descr="Pipeline clock cycle flow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51560"/>
            <a:ext cx="3163824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03520" y="118872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rising edge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advances, IR and ID/EX capture, EX commits results.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taken jump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pc_sel loads the target and flush clears IR and ID/EX, inserting 2 bubbles.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2 extra cycles per taken jump.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Timing: pipeline needs N+2 clocks, not 2N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 Measured"/>
          <p:cNvSpPr/>
          <p:nvPr/>
        </p:nvSpPr>
        <p:spPr>
          <a:xfrm>
            <a:off x="5852160" y="1188720"/>
            <a:ext cx="28346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16752" y="135331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36208" y="12984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16752" y="1645920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 9 and 12 instructions finished in 7, 11 and 14 clocks, matching N+2.</a:t>
            </a:r>
            <a:endParaRPr lang="en-US" sz="1400" dirty="0"/>
          </a:p>
        </p:txBody>
      </p:sp>
      <p:sp>
        <p:nvSpPr>
          <p:cNvPr id="8" name="card Why"/>
          <p:cNvSpPr/>
          <p:nvPr/>
        </p:nvSpPr>
        <p:spPr>
          <a:xfrm>
            <a:off x="5852160" y="2926080"/>
            <a:ext cx="28346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16752" y="309067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36208" y="3035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016752" y="3383280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cycles fill the pipe once. After that one instruction completes per clock. Jumps add 2 cycles each.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program and expected results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937760" cy="188366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LDI R1,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=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LDI R2,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=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R1, 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=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LDI R3,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=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R1, R3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=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JMP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(flush)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card Exercises"/>
          <p:cNvSpPr/>
          <p:nvPr/>
        </p:nvSpPr>
        <p:spPr>
          <a:xfrm>
            <a:off x="5669280" y="1143000"/>
            <a:ext cx="30175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33872" y="130759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53328" y="12527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33872" y="1600200"/>
            <a:ext cx="2688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load, ALU add, XOR, and an unconditional jump that triggers the flush.</a:t>
            </a:r>
            <a:endParaRPr lang="en-US" sz="1400" dirty="0"/>
          </a:p>
        </p:txBody>
      </p:sp>
      <p:sp>
        <p:nvSpPr>
          <p:cNvPr id="8" name="card Padding"/>
          <p:cNvSpPr/>
          <p:nvPr/>
        </p:nvSpPr>
        <p:spPr>
          <a:xfrm>
            <a:off x="5669280" y="2926080"/>
            <a:ext cx="30175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33872" y="309067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53328" y="30358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833872" y="3383280"/>
            <a:ext cx="2688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ROM words hold C00 (NOP) so every .mem file has 16 lines.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840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further programs cover arithmetic, logic and jump behaviour (prog_arith, prog_logic, prog_jump).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7B5B-BC02-49B5-975C-9F667AD9DBB3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/>
              <a:t>Elaborated Schematic</a:t>
            </a:r>
            <a:endParaRPr lang="vi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C07893-9B75-444E-9432-671C780A5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808"/>
            <a:ext cx="9144000" cy="334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42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plan: 88 self-checking assertions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 Unit level"/>
          <p:cNvSpPr/>
          <p:nvPr/>
        </p:nvSpPr>
        <p:spPr>
          <a:xfrm>
            <a:off x="5852160" y="1188720"/>
            <a:ext cx="2834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16752" y="135331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36208" y="12984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level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16752" y="1645920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ALU, register file and control unit are tested alone.</a:t>
            </a:r>
            <a:endParaRPr lang="en-US" sz="1400" dirty="0"/>
          </a:p>
        </p:txBody>
      </p:sp>
      <p:sp>
        <p:nvSpPr>
          <p:cNvPr id="8" name="card System level"/>
          <p:cNvSpPr/>
          <p:nvPr/>
        </p:nvSpPr>
        <p:spPr>
          <a:xfrm>
            <a:off x="5852160" y="2468880"/>
            <a:ext cx="2834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16752" y="263347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36208" y="2578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level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016752" y="2926080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tb_cpu checks registers, RAM and flags after each program.</a:t>
            </a:r>
            <a:endParaRPr lang="en-US" sz="1400" dirty="0"/>
          </a:p>
        </p:txBody>
      </p:sp>
      <p:sp>
        <p:nvSpPr>
          <p:cNvPr id="12" name="card Result"/>
          <p:cNvSpPr/>
          <p:nvPr/>
        </p:nvSpPr>
        <p:spPr>
          <a:xfrm>
            <a:off x="5852160" y="3749040"/>
            <a:ext cx="28346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16752" y="391363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36208" y="38587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016752" y="420624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88 passed in Icarus and Vivado.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 testbench: tb_alu</a:t>
            </a:r>
            <a:endParaRPr lang="en-US" sz="2800" dirty="0"/>
          </a:p>
        </p:txBody>
      </p:sp>
      <p:pic>
        <p:nvPicPr>
          <p:cNvPr id="3" name="waveform" descr="Vivado XSim, tb_alu: a, b, alu_ctrl, result, carry, ze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7680960" cy="2761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38404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XSim, tb_alu: a, b, alu_ctrl, result, carry, zero</a:t>
            </a:r>
            <a:endParaRPr lang="en-US" sz="1000" dirty="0"/>
          </a:p>
        </p:txBody>
      </p:sp>
      <p:sp>
        <p:nvSpPr>
          <p:cNvPr id="5" name="card Finish time"/>
          <p:cNvSpPr/>
          <p:nvPr/>
        </p:nvSpPr>
        <p:spPr>
          <a:xfrm>
            <a:off x="457200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427939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time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ns, 11 of 11 checks passed.</a:t>
            </a:r>
            <a:endParaRPr lang="en-US" sz="1200" dirty="0"/>
          </a:p>
        </p:txBody>
      </p:sp>
      <p:sp>
        <p:nvSpPr>
          <p:cNvPr id="9" name="card Flags"/>
          <p:cNvSpPr/>
          <p:nvPr/>
        </p:nvSpPr>
        <p:spPr>
          <a:xfrm>
            <a:off x="3264408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427939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48456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and zero pulse only where expected.</a:t>
            </a:r>
            <a:endParaRPr lang="en-US" sz="1200" dirty="0"/>
          </a:p>
        </p:txBody>
      </p:sp>
      <p:sp>
        <p:nvSpPr>
          <p:cNvPr id="13" name="card Example"/>
          <p:cNvSpPr/>
          <p:nvPr/>
        </p:nvSpPr>
        <p:spPr>
          <a:xfrm>
            <a:off x="6071616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36208" y="427939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55664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36208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AND A = 8; PASS passes B (9).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file testbench</a:t>
            </a:r>
            <a:endParaRPr lang="en-US" sz="2800" dirty="0"/>
          </a:p>
        </p:txBody>
      </p:sp>
      <p:pic>
        <p:nvPicPr>
          <p:cNvPr id="3" name="waveform" descr="Vivado XSim, tb_register_fi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7680960" cy="2761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38404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XSim, tb_register_file</a:t>
            </a:r>
            <a:endParaRPr lang="en-US" sz="1000" dirty="0"/>
          </a:p>
        </p:txBody>
      </p:sp>
      <p:sp>
        <p:nvSpPr>
          <p:cNvPr id="5" name="card Finish time"/>
          <p:cNvSpPr/>
          <p:nvPr/>
        </p:nvSpPr>
        <p:spPr>
          <a:xfrm>
            <a:off x="457200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427939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time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ns, 11 of 11 checks passed.</a:t>
            </a:r>
            <a:endParaRPr lang="en-US" sz="1200" dirty="0"/>
          </a:p>
        </p:txBody>
      </p:sp>
      <p:sp>
        <p:nvSpPr>
          <p:cNvPr id="9" name="card Write"/>
          <p:cNvSpPr/>
          <p:nvPr/>
        </p:nvSpPr>
        <p:spPr>
          <a:xfrm>
            <a:off x="3264408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427939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48456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lands only when reg_we is high.</a:t>
            </a:r>
            <a:endParaRPr lang="en-US" sz="1200" dirty="0"/>
          </a:p>
        </p:txBody>
      </p:sp>
      <p:sp>
        <p:nvSpPr>
          <p:cNvPr id="13" name="card Read"/>
          <p:cNvSpPr/>
          <p:nvPr/>
        </p:nvSpPr>
        <p:spPr>
          <a:xfrm>
            <a:off x="6071616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36208" y="427939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55664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36208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ports read independently.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unit testbench</a:t>
            </a:r>
            <a:endParaRPr lang="en-US" sz="2800" dirty="0"/>
          </a:p>
        </p:txBody>
      </p:sp>
      <p:pic>
        <p:nvPicPr>
          <p:cNvPr id="3" name="waveform" descr="Vivado XSim, tb_control_un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7680960" cy="2761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38404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XSim, tb_control_unit</a:t>
            </a:r>
            <a:endParaRPr lang="en-US" sz="1000" dirty="0"/>
          </a:p>
        </p:txBody>
      </p:sp>
      <p:sp>
        <p:nvSpPr>
          <p:cNvPr id="5" name="card Finish time"/>
          <p:cNvSpPr/>
          <p:nvPr/>
        </p:nvSpPr>
        <p:spPr>
          <a:xfrm>
            <a:off x="457200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427939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time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ns, 22 of 22 checks passed.</a:t>
            </a:r>
            <a:endParaRPr lang="en-US" sz="1200" dirty="0"/>
          </a:p>
        </p:txBody>
      </p:sp>
      <p:sp>
        <p:nvSpPr>
          <p:cNvPr id="9" name="card Decode"/>
          <p:cNvSpPr/>
          <p:nvPr/>
        </p:nvSpPr>
        <p:spPr>
          <a:xfrm>
            <a:off x="3264408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427939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48456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opcode gives the expected word.</a:t>
            </a:r>
            <a:endParaRPr lang="en-US" sz="1200" dirty="0"/>
          </a:p>
        </p:txBody>
      </p:sp>
      <p:sp>
        <p:nvSpPr>
          <p:cNvPr id="13" name="card Branch"/>
          <p:cNvSpPr/>
          <p:nvPr/>
        </p:nvSpPr>
        <p:spPr>
          <a:xfrm>
            <a:off x="6071616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36208" y="427939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55664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36208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pc_sel follows is_jmp and is_jz &amp; zero.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demo run: pipeline in action</a:t>
            </a:r>
            <a:endParaRPr lang="en-US" sz="2800" dirty="0"/>
          </a:p>
        </p:txBody>
      </p:sp>
      <p:pic>
        <p:nvPicPr>
          <p:cNvPr id="3" name="waveform" descr="Vivado XSim, tb_cpu: pc_out, alu_out, instr_out, id_instr, pc_sel, flus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7680960" cy="2761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38404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XSim, tb_cpu: pc_out, alu_out, instr_out, id_instr, pc_sel, flush</a:t>
            </a:r>
            <a:endParaRPr lang="en-US" sz="1000" dirty="0"/>
          </a:p>
        </p:txBody>
      </p:sp>
      <p:sp>
        <p:nvSpPr>
          <p:cNvPr id="5" name="card Fetch"/>
          <p:cNvSpPr/>
          <p:nvPr/>
        </p:nvSpPr>
        <p:spPr>
          <a:xfrm>
            <a:off x="457200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427939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instr_out shows 645, 683, 060, 6CA, 470, A05.</a:t>
            </a:r>
            <a:endParaRPr lang="en-US" sz="1200" dirty="0"/>
          </a:p>
        </p:txBody>
      </p:sp>
      <p:sp>
        <p:nvSpPr>
          <p:cNvPr id="9" name="card Execute"/>
          <p:cNvSpPr/>
          <p:nvPr/>
        </p:nvSpPr>
        <p:spPr>
          <a:xfrm>
            <a:off x="3264408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427939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48456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alu_out: 5, 3, 8, A, 2 as predicted.</a:t>
            </a:r>
            <a:endParaRPr lang="en-US" sz="1200" dirty="0"/>
          </a:p>
        </p:txBody>
      </p:sp>
      <p:sp>
        <p:nvSpPr>
          <p:cNvPr id="13" name="card Flush"/>
          <p:cNvSpPr/>
          <p:nvPr/>
        </p:nvSpPr>
        <p:spPr>
          <a:xfrm>
            <a:off x="6071616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36208" y="427939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55664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36208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pc_sel and flush pulse together at JMP.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tb_cpu run: 666 ns, 44 of 44 passed</a:t>
            </a:r>
            <a:endParaRPr lang="en-US" sz="2800" dirty="0"/>
          </a:p>
        </p:txBody>
      </p:sp>
      <p:pic>
        <p:nvPicPr>
          <p:cNvPr id="3" name="waveform" descr="Vivado XSim, tb_cpu full run with zero_out, carry_out, pc_sel and flus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7680960" cy="2761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38404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XSim, tb_cpu full run with zero_out, carry_out, pc_sel and flush</a:t>
            </a:r>
            <a:endParaRPr lang="en-US" sz="1000" dirty="0"/>
          </a:p>
        </p:txBody>
      </p:sp>
      <p:sp>
        <p:nvSpPr>
          <p:cNvPr id="5" name="card Programs"/>
          <p:cNvSpPr/>
          <p:nvPr/>
        </p:nvSpPr>
        <p:spPr>
          <a:xfrm>
            <a:off x="457200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427939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program, arith, logic and jump run in turn.</a:t>
            </a:r>
            <a:endParaRPr lang="en-US" sz="1200" dirty="0"/>
          </a:p>
        </p:txBody>
      </p:sp>
      <p:sp>
        <p:nvSpPr>
          <p:cNvPr id="9" name="card Reset"/>
          <p:cNvSpPr/>
          <p:nvPr/>
        </p:nvSpPr>
        <p:spPr>
          <a:xfrm>
            <a:off x="3264408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427939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48456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 between programs restarts PC at 0000.</a:t>
            </a:r>
            <a:endParaRPr lang="en-US" sz="1200" dirty="0"/>
          </a:p>
        </p:txBody>
      </p:sp>
      <p:sp>
        <p:nvSpPr>
          <p:cNvPr id="13" name="card Outcome"/>
          <p:cNvSpPr/>
          <p:nvPr/>
        </p:nvSpPr>
        <p:spPr>
          <a:xfrm>
            <a:off x="6071616" y="4114800"/>
            <a:ext cx="265176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36208" y="427939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55664" y="4224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36208" y="457200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of 44 checks passed.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summary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120640" cy="16885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tb_alu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tb_register_file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tb_control_unit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tb_cpu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 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card Two tools agree"/>
          <p:cNvSpPr/>
          <p:nvPr/>
        </p:nvSpPr>
        <p:spPr>
          <a:xfrm>
            <a:off x="5852160" y="1143000"/>
            <a:ext cx="28346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16752" y="130759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36208" y="12527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 agree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16752" y="1600200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Icarus Verilog 12 pre-check and Vivado XSim gave identical results.</a:t>
            </a:r>
            <a:endParaRPr lang="en-US" sz="1400" dirty="0"/>
          </a:p>
        </p:txBody>
      </p:sp>
      <p:sp>
        <p:nvSpPr>
          <p:cNvPr id="8" name="card Waveforms match"/>
          <p:cNvSpPr/>
          <p:nvPr/>
        </p:nvSpPr>
        <p:spPr>
          <a:xfrm>
            <a:off x="5852160" y="2971800"/>
            <a:ext cx="28346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16752" y="313639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36208" y="30815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Waveforms match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016752" y="3429000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match the hand-computed expected tables.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times are the simulator stop time reported by Vivado.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Vivado workflow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(Artix-7 xc7a12ti)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3264408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35331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design sources + program.mem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6071616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testbenches to sim_1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457200" y="292608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0906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657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behavioural simulation</a:t>
            </a:r>
            <a:endParaRPr lang="en-US" sz="1400" dirty="0"/>
          </a:p>
        </p:txBody>
      </p:sp>
      <p:sp>
        <p:nvSpPr>
          <p:cNvPr id="19" name="step 5"/>
          <p:cNvSpPr/>
          <p:nvPr/>
        </p:nvSpPr>
        <p:spPr>
          <a:xfrm>
            <a:off x="3264408" y="292608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309067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657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clk.xdc, run synthesis</a:t>
            </a:r>
            <a:endParaRPr lang="en-US" sz="1400" dirty="0"/>
          </a:p>
        </p:txBody>
      </p:sp>
      <p:sp>
        <p:nvSpPr>
          <p:cNvPr id="23" name="step 6"/>
          <p:cNvSpPr/>
          <p:nvPr/>
        </p:nvSpPr>
        <p:spPr>
          <a:xfrm>
            <a:off x="6071616" y="292608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6208" y="30906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3620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36208" y="3657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utilisation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met and how they were fixed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13411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simulate.log cannot be removed on re-run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the simulation first (close_sim -force)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 8-4445: could not open program.mem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program.mem to Design Sources as a Memory 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critical warnings: Cannot set load (clk.xdc)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set_load lines, keep only create_clock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enough words in .mem 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every .mem file to 16 lines with C00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affect correctness; they are tool-flow issues.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result</a:t>
            </a:r>
            <a:endParaRPr lang="en-US" sz="2800" dirty="0"/>
          </a:p>
        </p:txBody>
      </p:sp>
      <p:sp>
        <p:nvSpPr>
          <p:cNvPr id="3" name="stat LUTs"/>
          <p:cNvSpPr/>
          <p:nvPr/>
        </p:nvSpPr>
        <p:spPr>
          <a:xfrm>
            <a:off x="457200" y="1188720"/>
            <a:ext cx="1965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LUTs</a:t>
            </a:r>
            <a:endParaRPr lang="en-US" sz="1400" dirty="0"/>
          </a:p>
        </p:txBody>
      </p:sp>
      <p:sp>
        <p:nvSpPr>
          <p:cNvPr id="6" name="stat Flip-flops"/>
          <p:cNvSpPr/>
          <p:nvPr/>
        </p:nvSpPr>
        <p:spPr>
          <a:xfrm>
            <a:off x="2560320" y="1188720"/>
            <a:ext cx="1965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Flip-flops</a:t>
            </a:r>
            <a:endParaRPr lang="en-US" sz="1400" dirty="0"/>
          </a:p>
        </p:txBody>
      </p:sp>
      <p:sp>
        <p:nvSpPr>
          <p:cNvPr id="9" name="stat Cells in top level"/>
          <p:cNvSpPr/>
          <p:nvPr/>
        </p:nvSpPr>
        <p:spPr>
          <a:xfrm>
            <a:off x="4663440" y="1188720"/>
            <a:ext cx="1965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in top level</a:t>
            </a:r>
            <a:endParaRPr lang="en-US" sz="1400" dirty="0"/>
          </a:p>
        </p:txBody>
      </p:sp>
      <p:sp>
        <p:nvSpPr>
          <p:cNvPr id="12" name="stat I/O ports"/>
          <p:cNvSpPr/>
          <p:nvPr/>
        </p:nvSpPr>
        <p:spPr>
          <a:xfrm>
            <a:off x="6766560" y="1188720"/>
            <a:ext cx="1965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ports</a:t>
            </a:r>
            <a:endParaRPr lang="en-US" sz="1400" dirty="0"/>
          </a:p>
        </p:txBody>
      </p:sp>
      <p:sp>
        <p:nvSpPr>
          <p:cNvPr id="15" name="card Small footprint"/>
          <p:cNvSpPr/>
          <p:nvPr/>
        </p:nvSpPr>
        <p:spPr>
          <a:xfrm>
            <a:off x="457200" y="2788920"/>
            <a:ext cx="40233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295351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2898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footprint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246120"/>
            <a:ext cx="3694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CPU fits in a few dozen LUTs on an Artix-7, so it is easy to port to a real board.</a:t>
            </a:r>
            <a:endParaRPr lang="en-US" sz="1400" dirty="0"/>
          </a:p>
        </p:txBody>
      </p:sp>
      <p:sp>
        <p:nvSpPr>
          <p:cNvPr id="19" name="card Note"/>
          <p:cNvSpPr/>
          <p:nvPr/>
        </p:nvSpPr>
        <p:spPr>
          <a:xfrm>
            <a:off x="4663440" y="2788920"/>
            <a:ext cx="40233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295351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47488" y="2898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3246120"/>
            <a:ext cx="3694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come from the Vivado Design Runs table. Timing slack (WNS) is not reported here and should be read from the timing summary after implementation.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2800" dirty="0"/>
          </a:p>
        </p:txBody>
      </p:sp>
      <p:sp>
        <p:nvSpPr>
          <p:cNvPr id="3" name="card Limitations"/>
          <p:cNvSpPr/>
          <p:nvPr/>
        </p:nvSpPr>
        <p:spPr>
          <a:xfrm>
            <a:off x="457200" y="11430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07592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2527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0020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data and 16-word memories. Taken jumps cost 2 cycles. No interrupts, stack or subroutines.</a:t>
            </a:r>
            <a:endParaRPr lang="en-US" sz="1400" dirty="0"/>
          </a:p>
        </p:txBody>
      </p:sp>
      <p:sp>
        <p:nvSpPr>
          <p:cNvPr id="7" name="card Branch penalty"/>
          <p:cNvSpPr/>
          <p:nvPr/>
        </p:nvSpPr>
        <p:spPr>
          <a:xfrm>
            <a:off x="4663440" y="11430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8032" y="130759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47488" y="12527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penalty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28032" y="160020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the branch in EX is simple and safe but wastes two fetched instructions each time.</a:t>
            </a:r>
            <a:endParaRPr lang="en-US" sz="1400" dirty="0"/>
          </a:p>
        </p:txBody>
      </p:sp>
      <p:sp>
        <p:nvSpPr>
          <p:cNvPr id="11" name="card Next steps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13639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081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42900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branch predictor or move the decision earlier; widen the datapath to 8 bits; add CALL and RET.</a:t>
            </a:r>
            <a:endParaRPr lang="en-US" sz="1400" dirty="0"/>
          </a:p>
        </p:txBody>
      </p:sp>
      <p:sp>
        <p:nvSpPr>
          <p:cNvPr id="15" name="card Hardware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8032" y="313639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47488" y="3081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28032" y="342900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implementation, assign pins and test on an FPGA board with switches and LEDs.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4-bit, 3-stage pipelined RISC CPU in original Verilog.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756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instructions, 7 ALU operations, Harvard memories, hardwired control.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64261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of 88 checks passed in Icarus and Vivado XSim.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28416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20954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finishes N instructions in N+2 clocks; jumps flush 2 bubbles.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95344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776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Synthesises to 42 LUTs and 50 flip-flops.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9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4B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C CPU">
  <a:themeElements>
    <a:clrScheme name="RISC CPU">
      <a:dk1>
        <a:srgbClr val="15232B"/>
      </a:dk1>
      <a:lt1>
        <a:srgbClr val="FFFFFF"/>
      </a:lt1>
      <a:dk2>
        <a:srgbClr val="0B2530"/>
      </a:dk2>
      <a:lt2>
        <a:srgbClr val="EEF3F4"/>
      </a:lt2>
      <a:accent1>
        <a:srgbClr val="1B9C8F"/>
      </a:accent1>
      <a:accent2>
        <a:srgbClr val="F2A33A"/>
      </a:accent2>
      <a:accent3>
        <a:srgbClr val="3C6E91"/>
      </a:accent3>
      <a:accent4>
        <a:srgbClr val="C8553D"/>
      </a:accent4>
      <a:accent5>
        <a:srgbClr val="6B7F8A"/>
      </a:accent5>
      <a:accent6>
        <a:srgbClr val="7DBF7A"/>
      </a:accent6>
      <a:hlink>
        <a:srgbClr val="1B9C8F"/>
      </a:hlink>
      <a:folHlink>
        <a:srgbClr val="6B7F8A"/>
      </a:folHlink>
    </a:clrScheme>
    <a:fontScheme name="RISC CP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1969</Words>
  <Application>Microsoft Office PowerPoint</Application>
  <PresentationFormat>On-screen Show (16:9)</PresentationFormat>
  <Paragraphs>410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RISC CPU</vt:lpstr>
      <vt:lpstr>PowerPoint Presentation</vt:lpstr>
      <vt:lpstr>PowerPoint Presentation</vt:lpstr>
      <vt:lpstr>Project at a glance</vt:lpstr>
      <vt:lpstr>Objectives and scope</vt:lpstr>
      <vt:lpstr>Harvard architecture: separate code and data</vt:lpstr>
      <vt:lpstr>12-bit instruction format and instruction set</vt:lpstr>
      <vt:lpstr>Datapath building blocks</vt:lpstr>
      <vt:lpstr>ALU: seven operations, two flags</vt:lpstr>
      <vt:lpstr>Control unit: an 11-bit control word</vt:lpstr>
      <vt:lpstr>Three-stage pipeline: IF, ID, EX</vt:lpstr>
      <vt:lpstr>Clock cycle flow and jump flush</vt:lpstr>
      <vt:lpstr>Timing: pipeline needs N+2 clocks, not 2N</vt:lpstr>
      <vt:lpstr>Demo program and expected results</vt:lpstr>
      <vt:lpstr>Elaborated Schematic</vt:lpstr>
      <vt:lpstr>Verification plan: 88 self-checking assertions</vt:lpstr>
      <vt:lpstr>ALU testbench: tb_alu</vt:lpstr>
      <vt:lpstr>Register file testbench</vt:lpstr>
      <vt:lpstr>Control unit testbench</vt:lpstr>
      <vt:lpstr>CPU demo run: pipeline in action</vt:lpstr>
      <vt:lpstr>Full tb_cpu run: 666 ns, 44 of 44 passed</vt:lpstr>
      <vt:lpstr>Results summary</vt:lpstr>
      <vt:lpstr>Vivado workflow</vt:lpstr>
      <vt:lpstr>Problems met and how they were fixed</vt:lpstr>
      <vt:lpstr>Synthesis result</vt:lpstr>
      <vt:lpstr>Limitations and future work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4-Bit RISC CPU Datapath</dc:title>
  <dc:subject>PptxGenJS Presentation</dc:subject>
  <dc:creator>Project team</dc:creator>
  <cp:lastModifiedBy>LEE SON</cp:lastModifiedBy>
  <cp:revision>3</cp:revision>
  <dcterms:created xsi:type="dcterms:W3CDTF">2026-10-09T01:23:32Z</dcterms:created>
  <dcterms:modified xsi:type="dcterms:W3CDTF">2026-10-09T02:45:32Z</dcterms:modified>
</cp:coreProperties>
</file>